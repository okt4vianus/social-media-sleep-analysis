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Roboto Mono Medium"/>
      <p:regular r:id="rId21"/>
      <p:bold r:id="rId22"/>
      <p:italic r:id="rId23"/>
      <p:boldItalic r:id="rId24"/>
    </p:embeddedFont>
    <p:embeddedFont>
      <p:font typeface="Roboto Mono Light"/>
      <p:regular r:id="rId25"/>
      <p:bold r:id="rId26"/>
      <p:italic r:id="rId27"/>
      <p:boldItalic r:id="rId28"/>
    </p:embeddedFont>
    <p:embeddedFont>
      <p:font typeface="Montserrat Light"/>
      <p:regular r:id="rId29"/>
      <p:bold r:id="rId30"/>
      <p:italic r:id="rId31"/>
      <p:boldItalic r:id="rId32"/>
    </p:embeddedFont>
    <p:embeddedFont>
      <p:font typeface="Sora"/>
      <p:regular r:id="rId33"/>
      <p:bold r:id="rId34"/>
    </p:embeddedFont>
    <p:embeddedFont>
      <p:font typeface="Roboto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i5jvI46mJUiRFkjuRynNbIfRAw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MonoMedium-bold.fntdata"/><Relationship Id="rId21" Type="http://schemas.openxmlformats.org/officeDocument/2006/relationships/font" Target="fonts/RobotoMonoMedium-regular.fntdata"/><Relationship Id="rId24" Type="http://schemas.openxmlformats.org/officeDocument/2006/relationships/font" Target="fonts/RobotoMonoMedium-boldItalic.fntdata"/><Relationship Id="rId23" Type="http://schemas.openxmlformats.org/officeDocument/2006/relationships/font" Target="fonts/RobotoMonoMedium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MonoLight-bold.fntdata"/><Relationship Id="rId25" Type="http://schemas.openxmlformats.org/officeDocument/2006/relationships/font" Target="fonts/RobotoMonoLight-regular.fntdata"/><Relationship Id="rId28" Type="http://schemas.openxmlformats.org/officeDocument/2006/relationships/font" Target="fonts/RobotoMonoLight-boldItalic.fntdata"/><Relationship Id="rId27" Type="http://schemas.openxmlformats.org/officeDocument/2006/relationships/font" Target="fonts/RobotoMonoLight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Ligh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Light-italic.fntdata"/><Relationship Id="rId30" Type="http://schemas.openxmlformats.org/officeDocument/2006/relationships/font" Target="fonts/MontserratLight-bold.fntdata"/><Relationship Id="rId11" Type="http://schemas.openxmlformats.org/officeDocument/2006/relationships/slide" Target="slides/slide5.xml"/><Relationship Id="rId33" Type="http://schemas.openxmlformats.org/officeDocument/2006/relationships/font" Target="fonts/Sora-regular.fntdata"/><Relationship Id="rId10" Type="http://schemas.openxmlformats.org/officeDocument/2006/relationships/slide" Target="slides/slide4.xml"/><Relationship Id="rId32" Type="http://schemas.openxmlformats.org/officeDocument/2006/relationships/font" Target="fonts/MontserratLight-boldItalic.fntdata"/><Relationship Id="rId13" Type="http://schemas.openxmlformats.org/officeDocument/2006/relationships/slide" Target="slides/slide7.xml"/><Relationship Id="rId35" Type="http://schemas.openxmlformats.org/officeDocument/2006/relationships/font" Target="fonts/RobotoMono-regular.fntdata"/><Relationship Id="rId12" Type="http://schemas.openxmlformats.org/officeDocument/2006/relationships/slide" Target="slides/slide6.xml"/><Relationship Id="rId34" Type="http://schemas.openxmlformats.org/officeDocument/2006/relationships/font" Target="fonts/Sora-bold.fntdata"/><Relationship Id="rId15" Type="http://schemas.openxmlformats.org/officeDocument/2006/relationships/slide" Target="slides/slide9.xml"/><Relationship Id="rId37" Type="http://schemas.openxmlformats.org/officeDocument/2006/relationships/font" Target="fonts/RobotoMono-italic.fntdata"/><Relationship Id="rId14" Type="http://schemas.openxmlformats.org/officeDocument/2006/relationships/slide" Target="slides/slide8.xml"/><Relationship Id="rId36" Type="http://schemas.openxmlformats.org/officeDocument/2006/relationships/font" Target="fonts/RobotoMono-bold.fntdata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font" Target="fonts/RobotoMono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4227d628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b4227d628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3b4227d628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f168eedcc6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g1f168eedcc6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41a23605f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g3b41a23605f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41a23605f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g3b41a23605f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41a23605f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g3b41a23605f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41a23605f_0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g3b41a23605f_0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41a23605f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g3b41a23605f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41a23605f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g3b41a23605f_0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41a23605f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g3b41a23605f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42ad2f6649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g142ad2f6649_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451da43991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g1451da43991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c19338028d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1c19338028d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Transisi antar outline</a:t>
            </a:r>
            <a:endParaRPr/>
          </a:p>
        </p:txBody>
      </p:sp>
      <p:sp>
        <p:nvSpPr>
          <p:cNvPr id="266" name="Google Shape;266;g1c19338028d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8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8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8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9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9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9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9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3"/>
          <p:cNvSpPr txBox="1"/>
          <p:nvPr>
            <p:ph type="title"/>
          </p:nvPr>
        </p:nvSpPr>
        <p:spPr>
          <a:xfrm>
            <a:off x="388943" y="365125"/>
            <a:ext cx="1140154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3200"/>
              <a:buFont typeface="Sora"/>
              <a:buNone/>
              <a:defRPr sz="3200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3" name="Google Shape;93;p73"/>
          <p:cNvCxnSpPr/>
          <p:nvPr/>
        </p:nvCxnSpPr>
        <p:spPr>
          <a:xfrm>
            <a:off x="388943" y="6521865"/>
            <a:ext cx="145478" cy="0"/>
          </a:xfrm>
          <a:prstGeom prst="straightConnector1">
            <a:avLst/>
          </a:prstGeom>
          <a:noFill/>
          <a:ln cap="flat" cmpd="sng" w="9525">
            <a:solidFill>
              <a:srgbClr val="103864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94" name="Google Shape;94;p73"/>
          <p:cNvSpPr txBox="1"/>
          <p:nvPr/>
        </p:nvSpPr>
        <p:spPr>
          <a:xfrm>
            <a:off x="3906714" y="63393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2022 – Pacmann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2084" y="224287"/>
            <a:ext cx="1572880" cy="45563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73"/>
          <p:cNvSpPr txBox="1"/>
          <p:nvPr/>
        </p:nvSpPr>
        <p:spPr>
          <a:xfrm>
            <a:off x="-1190479" y="63393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pacmann.io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3"/>
          <p:cNvSpPr txBox="1"/>
          <p:nvPr/>
        </p:nvSpPr>
        <p:spPr>
          <a:xfrm>
            <a:off x="9155723" y="63393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‹#›</a:t>
            </a:fld>
            <a:endParaRPr b="0" i="0" sz="800" u="none" cap="none" strike="noStrike">
              <a:solidFill>
                <a:srgbClr val="103864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98" name="Google Shape;98;p73"/>
          <p:cNvCxnSpPr/>
          <p:nvPr/>
        </p:nvCxnSpPr>
        <p:spPr>
          <a:xfrm>
            <a:off x="504885" y="1224951"/>
            <a:ext cx="3640347" cy="0"/>
          </a:xfrm>
          <a:prstGeom prst="straightConnector1">
            <a:avLst/>
          </a:prstGeom>
          <a:noFill/>
          <a:ln cap="flat" cmpd="sng" w="28575">
            <a:solidFill>
              <a:srgbClr val="F3C145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4"/>
          <p:cNvSpPr txBox="1"/>
          <p:nvPr>
            <p:ph type="title"/>
          </p:nvPr>
        </p:nvSpPr>
        <p:spPr>
          <a:xfrm>
            <a:off x="316523" y="2691441"/>
            <a:ext cx="11582400" cy="8965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4400"/>
              <a:buFont typeface="Sora"/>
              <a:buNone/>
              <a:defRPr sz="4400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01" name="Google Shape;101;p74"/>
          <p:cNvCxnSpPr/>
          <p:nvPr/>
        </p:nvCxnSpPr>
        <p:spPr>
          <a:xfrm>
            <a:off x="388943" y="6521865"/>
            <a:ext cx="145478" cy="0"/>
          </a:xfrm>
          <a:prstGeom prst="straightConnector1">
            <a:avLst/>
          </a:prstGeom>
          <a:noFill/>
          <a:ln cap="flat" cmpd="sng" w="9525">
            <a:solidFill>
              <a:srgbClr val="103864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02" name="Google Shape;102;p74"/>
          <p:cNvSpPr txBox="1"/>
          <p:nvPr/>
        </p:nvSpPr>
        <p:spPr>
          <a:xfrm>
            <a:off x="3906714" y="63393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2022 – Pacmann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4"/>
          <p:cNvSpPr txBox="1"/>
          <p:nvPr/>
        </p:nvSpPr>
        <p:spPr>
          <a:xfrm>
            <a:off x="-1190479" y="63393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pacmann.io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2084" y="224287"/>
            <a:ext cx="1572880" cy="45563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4"/>
          <p:cNvSpPr txBox="1"/>
          <p:nvPr/>
        </p:nvSpPr>
        <p:spPr>
          <a:xfrm>
            <a:off x="9155723" y="63393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‹#›</a:t>
            </a:fld>
            <a:endParaRPr b="0" i="0" sz="800" u="none" cap="none" strike="noStrike">
              <a:solidFill>
                <a:srgbClr val="103864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106" name="Google Shape;106;p74"/>
          <p:cNvCxnSpPr/>
          <p:nvPr/>
        </p:nvCxnSpPr>
        <p:spPr>
          <a:xfrm>
            <a:off x="3969975" y="3588007"/>
            <a:ext cx="4252050" cy="0"/>
          </a:xfrm>
          <a:prstGeom prst="straightConnector1">
            <a:avLst/>
          </a:prstGeom>
          <a:noFill/>
          <a:ln cap="flat" cmpd="sng" w="28575">
            <a:solidFill>
              <a:srgbClr val="F3C145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2"/>
          <p:cNvSpPr txBox="1"/>
          <p:nvPr>
            <p:ph type="title"/>
          </p:nvPr>
        </p:nvSpPr>
        <p:spPr>
          <a:xfrm>
            <a:off x="388943" y="365125"/>
            <a:ext cx="1150998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3200"/>
              <a:buFont typeface="Sora"/>
              <a:buNone/>
              <a:defRPr sz="3200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72"/>
          <p:cNvSpPr txBox="1"/>
          <p:nvPr>
            <p:ph idx="1" type="body"/>
          </p:nvPr>
        </p:nvSpPr>
        <p:spPr>
          <a:xfrm>
            <a:off x="388943" y="1825625"/>
            <a:ext cx="1150998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3864"/>
              </a:buClr>
              <a:buSzPts val="3200"/>
              <a:buChar char="•"/>
              <a:defRPr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800"/>
              <a:buChar char="•"/>
              <a:defRPr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400"/>
              <a:buChar char="•"/>
              <a:defRPr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000"/>
              <a:buChar char="•"/>
              <a:defRPr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000"/>
              <a:buChar char="•"/>
              <a:defRPr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10" name="Google Shape;110;p72"/>
          <p:cNvCxnSpPr/>
          <p:nvPr/>
        </p:nvCxnSpPr>
        <p:spPr>
          <a:xfrm>
            <a:off x="388943" y="6521865"/>
            <a:ext cx="145478" cy="0"/>
          </a:xfrm>
          <a:prstGeom prst="straightConnector1">
            <a:avLst/>
          </a:prstGeom>
          <a:noFill/>
          <a:ln cap="flat" cmpd="sng" w="9525">
            <a:solidFill>
              <a:srgbClr val="103864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11" name="Google Shape;111;p72"/>
          <p:cNvSpPr txBox="1"/>
          <p:nvPr/>
        </p:nvSpPr>
        <p:spPr>
          <a:xfrm>
            <a:off x="3906714" y="63393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2022 – Pacmann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2"/>
          <p:cNvSpPr txBox="1"/>
          <p:nvPr/>
        </p:nvSpPr>
        <p:spPr>
          <a:xfrm>
            <a:off x="-1190479" y="63393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pacmann.io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2"/>
          <p:cNvSpPr txBox="1"/>
          <p:nvPr/>
        </p:nvSpPr>
        <p:spPr>
          <a:xfrm>
            <a:off x="9155723" y="63393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‹#›</a:t>
            </a:fld>
            <a:endParaRPr b="0" i="0" sz="800" u="none" cap="none" strike="noStrike">
              <a:solidFill>
                <a:srgbClr val="103864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114" name="Google Shape;114;p72"/>
          <p:cNvCxnSpPr/>
          <p:nvPr/>
        </p:nvCxnSpPr>
        <p:spPr>
          <a:xfrm>
            <a:off x="504885" y="1224951"/>
            <a:ext cx="3640347" cy="0"/>
          </a:xfrm>
          <a:prstGeom prst="straightConnector1">
            <a:avLst/>
          </a:prstGeom>
          <a:noFill/>
          <a:ln cap="flat" cmpd="sng" w="28575">
            <a:solidFill>
              <a:srgbClr val="F3C145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5"/>
          <p:cNvSpPr txBox="1"/>
          <p:nvPr/>
        </p:nvSpPr>
        <p:spPr>
          <a:xfrm>
            <a:off x="2499208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75"/>
          <p:cNvCxnSpPr/>
          <p:nvPr/>
        </p:nvCxnSpPr>
        <p:spPr>
          <a:xfrm>
            <a:off x="388943" y="6521865"/>
            <a:ext cx="145478" cy="0"/>
          </a:xfrm>
          <a:prstGeom prst="straightConnector1">
            <a:avLst/>
          </a:prstGeom>
          <a:noFill/>
          <a:ln cap="flat" cmpd="sng" w="9525">
            <a:solidFill>
              <a:srgbClr val="103864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18" name="Google Shape;118;p75"/>
          <p:cNvSpPr txBox="1"/>
          <p:nvPr/>
        </p:nvSpPr>
        <p:spPr>
          <a:xfrm>
            <a:off x="3906714" y="63393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2022 – Pacmann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5"/>
          <p:cNvSpPr txBox="1"/>
          <p:nvPr/>
        </p:nvSpPr>
        <p:spPr>
          <a:xfrm>
            <a:off x="-1190479" y="63393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pacmann.io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5"/>
          <p:cNvSpPr txBox="1"/>
          <p:nvPr/>
        </p:nvSpPr>
        <p:spPr>
          <a:xfrm>
            <a:off x="9155723" y="63393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‹#›</a:t>
            </a:fld>
            <a:endParaRPr b="0" i="0" sz="800" u="none" cap="none" strike="noStrike">
              <a:solidFill>
                <a:srgbClr val="103864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40">
          <p15:clr>
            <a:srgbClr val="FBAE40"/>
          </p15:clr>
        </p15:guide>
        <p15:guide id="2" pos="7440">
          <p15:clr>
            <a:srgbClr val="FBAE40"/>
          </p15:clr>
        </p15:guide>
        <p15:guide id="3" orient="horz" pos="192">
          <p15:clr>
            <a:srgbClr val="FBAE40"/>
          </p15:clr>
        </p15:guide>
        <p15:guide id="4" orient="horz" pos="412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6"/>
          <p:cNvSpPr txBox="1"/>
          <p:nvPr>
            <p:ph type="title"/>
          </p:nvPr>
        </p:nvSpPr>
        <p:spPr>
          <a:xfrm>
            <a:off x="388943" y="365125"/>
            <a:ext cx="1141912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3200"/>
              <a:buFont typeface="Sora"/>
              <a:buNone/>
              <a:defRPr sz="3200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76"/>
          <p:cNvSpPr txBox="1"/>
          <p:nvPr>
            <p:ph idx="1" type="body"/>
          </p:nvPr>
        </p:nvSpPr>
        <p:spPr>
          <a:xfrm>
            <a:off x="388943" y="1825625"/>
            <a:ext cx="5854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3864"/>
              </a:buClr>
              <a:buSzPts val="3200"/>
              <a:buChar char="•"/>
              <a:defRPr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800"/>
              <a:buChar char="•"/>
              <a:defRPr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400"/>
              <a:buChar char="•"/>
              <a:defRPr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000"/>
              <a:buChar char="•"/>
              <a:defRPr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000"/>
              <a:buChar char="•"/>
              <a:defRPr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76"/>
          <p:cNvSpPr txBox="1"/>
          <p:nvPr>
            <p:ph idx="2" type="body"/>
          </p:nvPr>
        </p:nvSpPr>
        <p:spPr>
          <a:xfrm>
            <a:off x="6172199" y="1825625"/>
            <a:ext cx="563085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3864"/>
              </a:buClr>
              <a:buSzPts val="3200"/>
              <a:buChar char="•"/>
              <a:defRPr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800"/>
              <a:buChar char="•"/>
              <a:defRPr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400"/>
              <a:buChar char="•"/>
              <a:defRPr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000"/>
              <a:buChar char="•"/>
              <a:defRPr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000"/>
              <a:buChar char="•"/>
              <a:defRPr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25" name="Google Shape;125;p76"/>
          <p:cNvCxnSpPr/>
          <p:nvPr/>
        </p:nvCxnSpPr>
        <p:spPr>
          <a:xfrm>
            <a:off x="388943" y="6521865"/>
            <a:ext cx="145478" cy="0"/>
          </a:xfrm>
          <a:prstGeom prst="straightConnector1">
            <a:avLst/>
          </a:prstGeom>
          <a:noFill/>
          <a:ln cap="flat" cmpd="sng" w="9525">
            <a:solidFill>
              <a:srgbClr val="103864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26" name="Google Shape;126;p76"/>
          <p:cNvSpPr txBox="1"/>
          <p:nvPr/>
        </p:nvSpPr>
        <p:spPr>
          <a:xfrm>
            <a:off x="3906714" y="63393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2022 – Pacmann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2084" y="224287"/>
            <a:ext cx="1572880" cy="455637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76"/>
          <p:cNvSpPr txBox="1"/>
          <p:nvPr/>
        </p:nvSpPr>
        <p:spPr>
          <a:xfrm>
            <a:off x="-1190479" y="63393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pacmann.io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6"/>
          <p:cNvSpPr txBox="1"/>
          <p:nvPr/>
        </p:nvSpPr>
        <p:spPr>
          <a:xfrm>
            <a:off x="9155723" y="63393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‹#›</a:t>
            </a:fld>
            <a:endParaRPr b="0" i="0" sz="800" u="none" cap="none" strike="noStrike">
              <a:solidFill>
                <a:srgbClr val="103864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7"/>
          <p:cNvSpPr txBox="1"/>
          <p:nvPr>
            <p:ph type="title"/>
          </p:nvPr>
        </p:nvSpPr>
        <p:spPr>
          <a:xfrm>
            <a:off x="388943" y="365125"/>
            <a:ext cx="1139188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3200"/>
              <a:buFont typeface="Roboto Mono Medium"/>
              <a:buNone/>
              <a:defRPr sz="3200">
                <a:solidFill>
                  <a:srgbClr val="103864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77"/>
          <p:cNvSpPr txBox="1"/>
          <p:nvPr>
            <p:ph idx="1" type="body"/>
          </p:nvPr>
        </p:nvSpPr>
        <p:spPr>
          <a:xfrm>
            <a:off x="388944" y="1681163"/>
            <a:ext cx="560863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3864"/>
              </a:buClr>
              <a:buSzPts val="2400"/>
              <a:buNone/>
              <a:defRPr b="1" sz="2400">
                <a:solidFill>
                  <a:srgbClr val="103864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3" name="Google Shape;133;p77"/>
          <p:cNvSpPr txBox="1"/>
          <p:nvPr>
            <p:ph idx="2" type="body"/>
          </p:nvPr>
        </p:nvSpPr>
        <p:spPr>
          <a:xfrm>
            <a:off x="388944" y="2505075"/>
            <a:ext cx="5608632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3864"/>
              </a:buClr>
              <a:buSzPts val="3200"/>
              <a:buChar char="•"/>
              <a:defRPr>
                <a:solidFill>
                  <a:srgbClr val="103864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800"/>
              <a:buChar char="•"/>
              <a:defRPr>
                <a:solidFill>
                  <a:srgbClr val="103864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400"/>
              <a:buChar char="•"/>
              <a:defRPr>
                <a:solidFill>
                  <a:srgbClr val="103864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000"/>
              <a:buChar char="•"/>
              <a:defRPr>
                <a:solidFill>
                  <a:srgbClr val="103864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000"/>
              <a:buChar char="•"/>
              <a:defRPr>
                <a:solidFill>
                  <a:srgbClr val="103864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77"/>
          <p:cNvSpPr txBox="1"/>
          <p:nvPr>
            <p:ph idx="3" type="body"/>
          </p:nvPr>
        </p:nvSpPr>
        <p:spPr>
          <a:xfrm>
            <a:off x="6172200" y="1681163"/>
            <a:ext cx="560863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3864"/>
              </a:buClr>
              <a:buSzPts val="2400"/>
              <a:buNone/>
              <a:defRPr b="1" sz="2400">
                <a:solidFill>
                  <a:srgbClr val="103864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5" name="Google Shape;135;p77"/>
          <p:cNvSpPr txBox="1"/>
          <p:nvPr>
            <p:ph idx="4" type="body"/>
          </p:nvPr>
        </p:nvSpPr>
        <p:spPr>
          <a:xfrm>
            <a:off x="6172200" y="2505075"/>
            <a:ext cx="5608632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3864"/>
              </a:buClr>
              <a:buSzPts val="3200"/>
              <a:buChar char="•"/>
              <a:defRPr>
                <a:solidFill>
                  <a:srgbClr val="103864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800"/>
              <a:buChar char="•"/>
              <a:defRPr>
                <a:solidFill>
                  <a:srgbClr val="103864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400"/>
              <a:buChar char="•"/>
              <a:defRPr>
                <a:solidFill>
                  <a:srgbClr val="103864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000"/>
              <a:buChar char="•"/>
              <a:defRPr>
                <a:solidFill>
                  <a:srgbClr val="103864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000"/>
              <a:buChar char="•"/>
              <a:defRPr>
                <a:solidFill>
                  <a:srgbClr val="103864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36" name="Google Shape;136;p77"/>
          <p:cNvCxnSpPr/>
          <p:nvPr/>
        </p:nvCxnSpPr>
        <p:spPr>
          <a:xfrm>
            <a:off x="388943" y="6521865"/>
            <a:ext cx="145478" cy="0"/>
          </a:xfrm>
          <a:prstGeom prst="straightConnector1">
            <a:avLst/>
          </a:prstGeom>
          <a:noFill/>
          <a:ln cap="flat" cmpd="sng" w="9525">
            <a:solidFill>
              <a:srgbClr val="103864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37" name="Google Shape;137;p77"/>
          <p:cNvSpPr txBox="1"/>
          <p:nvPr/>
        </p:nvSpPr>
        <p:spPr>
          <a:xfrm>
            <a:off x="3906714" y="63393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2022 – Pacmann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2084" y="224287"/>
            <a:ext cx="1572880" cy="45563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7"/>
          <p:cNvSpPr txBox="1"/>
          <p:nvPr/>
        </p:nvSpPr>
        <p:spPr>
          <a:xfrm>
            <a:off x="-1190479" y="63393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pacmann.io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7"/>
          <p:cNvSpPr txBox="1"/>
          <p:nvPr/>
        </p:nvSpPr>
        <p:spPr>
          <a:xfrm>
            <a:off x="9155723" y="63393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‹#›</a:t>
            </a:fld>
            <a:endParaRPr b="0" i="0" sz="800" u="none" cap="none" strike="noStrike">
              <a:solidFill>
                <a:srgbClr val="103864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Google Shape;142;p78"/>
          <p:cNvCxnSpPr/>
          <p:nvPr/>
        </p:nvCxnSpPr>
        <p:spPr>
          <a:xfrm>
            <a:off x="388943" y="6521865"/>
            <a:ext cx="145478" cy="0"/>
          </a:xfrm>
          <a:prstGeom prst="straightConnector1">
            <a:avLst/>
          </a:prstGeom>
          <a:noFill/>
          <a:ln cap="flat" cmpd="sng" w="9525">
            <a:solidFill>
              <a:srgbClr val="103864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43" name="Google Shape;143;p78"/>
          <p:cNvSpPr txBox="1"/>
          <p:nvPr/>
        </p:nvSpPr>
        <p:spPr>
          <a:xfrm>
            <a:off x="3906714" y="63393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2022 – Pacmann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2084" y="224287"/>
            <a:ext cx="1572880" cy="455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78"/>
          <p:cNvSpPr txBox="1"/>
          <p:nvPr/>
        </p:nvSpPr>
        <p:spPr>
          <a:xfrm>
            <a:off x="-1190479" y="63393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pacmann.io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8"/>
          <p:cNvSpPr txBox="1"/>
          <p:nvPr/>
        </p:nvSpPr>
        <p:spPr>
          <a:xfrm>
            <a:off x="9155723" y="63393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‹#›</a:t>
            </a:fld>
            <a:endParaRPr b="0" i="0" sz="800" u="none" cap="none" strike="noStrike">
              <a:solidFill>
                <a:srgbClr val="103864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9"/>
          <p:cNvSpPr txBox="1"/>
          <p:nvPr>
            <p:ph type="title"/>
          </p:nvPr>
        </p:nvSpPr>
        <p:spPr>
          <a:xfrm>
            <a:off x="388944" y="457200"/>
            <a:ext cx="4383082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2800"/>
              <a:buFont typeface="Roboto Mono Light"/>
              <a:buNone/>
              <a:defRPr sz="2800">
                <a:solidFill>
                  <a:srgbClr val="103864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79"/>
          <p:cNvSpPr txBox="1"/>
          <p:nvPr>
            <p:ph idx="1" type="body"/>
          </p:nvPr>
        </p:nvSpPr>
        <p:spPr>
          <a:xfrm>
            <a:off x="5183188" y="987425"/>
            <a:ext cx="6619868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3864"/>
              </a:buClr>
              <a:buSzPts val="2800"/>
              <a:buChar char="•"/>
              <a:defRPr sz="2800">
                <a:solidFill>
                  <a:srgbClr val="103864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400"/>
              <a:buChar char="•"/>
              <a:defRPr sz="2400">
                <a:solidFill>
                  <a:srgbClr val="103864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000"/>
              <a:buChar char="•"/>
              <a:defRPr sz="2000">
                <a:solidFill>
                  <a:srgbClr val="103864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1800"/>
              <a:buChar char="•"/>
              <a:defRPr sz="1800">
                <a:solidFill>
                  <a:srgbClr val="103864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1800"/>
              <a:buChar char="•"/>
              <a:defRPr sz="1800">
                <a:solidFill>
                  <a:srgbClr val="103864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50" name="Google Shape;150;p79"/>
          <p:cNvSpPr txBox="1"/>
          <p:nvPr>
            <p:ph idx="2" type="body"/>
          </p:nvPr>
        </p:nvSpPr>
        <p:spPr>
          <a:xfrm>
            <a:off x="388944" y="2057400"/>
            <a:ext cx="4383082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3864"/>
              </a:buClr>
              <a:buSzPts val="1200"/>
              <a:buNone/>
              <a:defRPr sz="1200">
                <a:solidFill>
                  <a:srgbClr val="103864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cxnSp>
        <p:nvCxnSpPr>
          <p:cNvPr id="151" name="Google Shape;151;p79"/>
          <p:cNvCxnSpPr/>
          <p:nvPr/>
        </p:nvCxnSpPr>
        <p:spPr>
          <a:xfrm>
            <a:off x="388943" y="6521865"/>
            <a:ext cx="145478" cy="0"/>
          </a:xfrm>
          <a:prstGeom prst="straightConnector1">
            <a:avLst/>
          </a:prstGeom>
          <a:noFill/>
          <a:ln cap="flat" cmpd="sng" w="9525">
            <a:solidFill>
              <a:srgbClr val="103864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52" name="Google Shape;152;p79"/>
          <p:cNvSpPr txBox="1"/>
          <p:nvPr/>
        </p:nvSpPr>
        <p:spPr>
          <a:xfrm>
            <a:off x="3906714" y="63393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2022 – Pacmann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2084" y="224287"/>
            <a:ext cx="1572880" cy="455637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9"/>
          <p:cNvSpPr txBox="1"/>
          <p:nvPr/>
        </p:nvSpPr>
        <p:spPr>
          <a:xfrm>
            <a:off x="-1190479" y="63393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pacmann.io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9"/>
          <p:cNvSpPr txBox="1"/>
          <p:nvPr/>
        </p:nvSpPr>
        <p:spPr>
          <a:xfrm>
            <a:off x="9155723" y="63393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‹#›</a:t>
            </a:fld>
            <a:endParaRPr b="0" i="0" sz="800" u="none" cap="none" strike="noStrike">
              <a:solidFill>
                <a:srgbClr val="103864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0"/>
          <p:cNvSpPr txBox="1"/>
          <p:nvPr>
            <p:ph type="title"/>
          </p:nvPr>
        </p:nvSpPr>
        <p:spPr>
          <a:xfrm>
            <a:off x="388944" y="457200"/>
            <a:ext cx="4383082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3200"/>
              <a:buFont typeface="Roboto Mono Medium"/>
              <a:buNone/>
              <a:defRPr sz="3200">
                <a:solidFill>
                  <a:srgbClr val="103864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80"/>
          <p:cNvSpPr/>
          <p:nvPr>
            <p:ph idx="2" type="pic"/>
          </p:nvPr>
        </p:nvSpPr>
        <p:spPr>
          <a:xfrm>
            <a:off x="5183188" y="457201"/>
            <a:ext cx="6619868" cy="540385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80"/>
          <p:cNvSpPr txBox="1"/>
          <p:nvPr>
            <p:ph idx="1" type="body"/>
          </p:nvPr>
        </p:nvSpPr>
        <p:spPr>
          <a:xfrm>
            <a:off x="388944" y="2057400"/>
            <a:ext cx="4383082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3864"/>
              </a:buClr>
              <a:buSzPts val="1200"/>
              <a:buNone/>
              <a:defRPr sz="1200">
                <a:solidFill>
                  <a:srgbClr val="103864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cxnSp>
        <p:nvCxnSpPr>
          <p:cNvPr id="160" name="Google Shape;160;p80"/>
          <p:cNvCxnSpPr/>
          <p:nvPr/>
        </p:nvCxnSpPr>
        <p:spPr>
          <a:xfrm>
            <a:off x="388943" y="6521865"/>
            <a:ext cx="145478" cy="0"/>
          </a:xfrm>
          <a:prstGeom prst="straightConnector1">
            <a:avLst/>
          </a:prstGeom>
          <a:noFill/>
          <a:ln cap="flat" cmpd="sng" w="9525">
            <a:solidFill>
              <a:srgbClr val="103864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61" name="Google Shape;161;p80"/>
          <p:cNvSpPr txBox="1"/>
          <p:nvPr/>
        </p:nvSpPr>
        <p:spPr>
          <a:xfrm>
            <a:off x="3906714" y="63393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2022 – Pacmann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2084" y="224287"/>
            <a:ext cx="1572880" cy="455637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0"/>
          <p:cNvSpPr txBox="1"/>
          <p:nvPr/>
        </p:nvSpPr>
        <p:spPr>
          <a:xfrm>
            <a:off x="-1190479" y="63393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pacmann.io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0"/>
          <p:cNvSpPr txBox="1"/>
          <p:nvPr/>
        </p:nvSpPr>
        <p:spPr>
          <a:xfrm>
            <a:off x="9155723" y="63393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‹#›</a:t>
            </a:fld>
            <a:endParaRPr b="0" i="0" sz="800" u="none" cap="none" strike="noStrike">
              <a:solidFill>
                <a:srgbClr val="103864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1"/>
          <p:cNvSpPr txBox="1"/>
          <p:nvPr>
            <p:ph type="title"/>
          </p:nvPr>
        </p:nvSpPr>
        <p:spPr>
          <a:xfrm>
            <a:off x="388943" y="365125"/>
            <a:ext cx="1141411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3200"/>
              <a:buFont typeface="Roboto Mono Medium"/>
              <a:buNone/>
              <a:defRPr sz="3200">
                <a:solidFill>
                  <a:srgbClr val="103864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81"/>
          <p:cNvSpPr txBox="1"/>
          <p:nvPr>
            <p:ph idx="1" type="body"/>
          </p:nvPr>
        </p:nvSpPr>
        <p:spPr>
          <a:xfrm rot="5400000">
            <a:off x="3920330" y="-1705762"/>
            <a:ext cx="4351338" cy="11414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3864"/>
              </a:buClr>
              <a:buSzPts val="3200"/>
              <a:buChar char="•"/>
              <a:defRPr>
                <a:solidFill>
                  <a:srgbClr val="103864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800"/>
              <a:buChar char="•"/>
              <a:defRPr>
                <a:solidFill>
                  <a:srgbClr val="103864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400"/>
              <a:buChar char="•"/>
              <a:defRPr>
                <a:solidFill>
                  <a:srgbClr val="103864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000"/>
              <a:buChar char="•"/>
              <a:defRPr>
                <a:solidFill>
                  <a:srgbClr val="103864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000"/>
              <a:buChar char="•"/>
              <a:defRPr>
                <a:solidFill>
                  <a:srgbClr val="103864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68" name="Google Shape;168;p81"/>
          <p:cNvCxnSpPr/>
          <p:nvPr/>
        </p:nvCxnSpPr>
        <p:spPr>
          <a:xfrm>
            <a:off x="388943" y="6521865"/>
            <a:ext cx="145478" cy="0"/>
          </a:xfrm>
          <a:prstGeom prst="straightConnector1">
            <a:avLst/>
          </a:prstGeom>
          <a:noFill/>
          <a:ln cap="flat" cmpd="sng" w="9525">
            <a:solidFill>
              <a:srgbClr val="103864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69" name="Google Shape;169;p81"/>
          <p:cNvSpPr txBox="1"/>
          <p:nvPr/>
        </p:nvSpPr>
        <p:spPr>
          <a:xfrm>
            <a:off x="3906714" y="63393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2022 – Pacmann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2084" y="224287"/>
            <a:ext cx="1572880" cy="45563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81"/>
          <p:cNvSpPr txBox="1"/>
          <p:nvPr/>
        </p:nvSpPr>
        <p:spPr>
          <a:xfrm>
            <a:off x="-1190479" y="63393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pacmann.io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1"/>
          <p:cNvSpPr txBox="1"/>
          <p:nvPr/>
        </p:nvSpPr>
        <p:spPr>
          <a:xfrm>
            <a:off x="9155723" y="63393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‹#›</a:t>
            </a:fld>
            <a:endParaRPr b="0" i="0" sz="800" u="none" cap="none" strike="noStrike">
              <a:solidFill>
                <a:srgbClr val="103864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2"/>
          <p:cNvSpPr txBox="1"/>
          <p:nvPr>
            <p:ph type="title"/>
          </p:nvPr>
        </p:nvSpPr>
        <p:spPr>
          <a:xfrm rot="5400000">
            <a:off x="7563391" y="1841431"/>
            <a:ext cx="5497039" cy="31740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3200"/>
              <a:buFont typeface="Roboto Mono"/>
              <a:buNone/>
              <a:defRPr sz="3200">
                <a:solidFill>
                  <a:srgbClr val="103864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82"/>
          <p:cNvSpPr txBox="1"/>
          <p:nvPr>
            <p:ph idx="1" type="body"/>
          </p:nvPr>
        </p:nvSpPr>
        <p:spPr>
          <a:xfrm rot="5400000">
            <a:off x="1732201" y="-663336"/>
            <a:ext cx="5497040" cy="8183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3864"/>
              </a:buClr>
              <a:buSzPts val="3200"/>
              <a:buChar char="•"/>
              <a:defRPr>
                <a:solidFill>
                  <a:srgbClr val="103864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800"/>
              <a:buChar char="•"/>
              <a:defRPr>
                <a:solidFill>
                  <a:srgbClr val="103864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400"/>
              <a:buChar char="•"/>
              <a:defRPr>
                <a:solidFill>
                  <a:srgbClr val="103864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000"/>
              <a:buChar char="•"/>
              <a:defRPr>
                <a:solidFill>
                  <a:srgbClr val="103864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000"/>
              <a:buChar char="•"/>
              <a:defRPr>
                <a:solidFill>
                  <a:srgbClr val="103864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76" name="Google Shape;176;p82"/>
          <p:cNvCxnSpPr/>
          <p:nvPr/>
        </p:nvCxnSpPr>
        <p:spPr>
          <a:xfrm>
            <a:off x="388943" y="6521865"/>
            <a:ext cx="145478" cy="0"/>
          </a:xfrm>
          <a:prstGeom prst="straightConnector1">
            <a:avLst/>
          </a:prstGeom>
          <a:noFill/>
          <a:ln cap="flat" cmpd="sng" w="9525">
            <a:solidFill>
              <a:srgbClr val="103864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77" name="Google Shape;177;p82"/>
          <p:cNvSpPr txBox="1"/>
          <p:nvPr/>
        </p:nvSpPr>
        <p:spPr>
          <a:xfrm>
            <a:off x="3906714" y="63393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2022 – Pacmann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2084" y="224287"/>
            <a:ext cx="1572880" cy="45563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82"/>
          <p:cNvSpPr txBox="1"/>
          <p:nvPr/>
        </p:nvSpPr>
        <p:spPr>
          <a:xfrm>
            <a:off x="-1190479" y="63393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pacmann.io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2"/>
          <p:cNvSpPr txBox="1"/>
          <p:nvPr/>
        </p:nvSpPr>
        <p:spPr>
          <a:xfrm>
            <a:off x="9155723" y="63393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‹#›</a:t>
            </a:fld>
            <a:endParaRPr b="0" i="0" sz="800" u="none" cap="none" strike="noStrike">
              <a:solidFill>
                <a:srgbClr val="103864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1"/>
          <p:cNvSpPr txBox="1"/>
          <p:nvPr>
            <p:ph type="title"/>
          </p:nvPr>
        </p:nvSpPr>
        <p:spPr>
          <a:xfrm>
            <a:off x="388943" y="365125"/>
            <a:ext cx="1139274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3200"/>
              <a:buFont typeface="Sora"/>
              <a:buNone/>
              <a:defRPr b="0" i="0" sz="3200" u="none" cap="none" strike="noStrike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71"/>
          <p:cNvSpPr txBox="1"/>
          <p:nvPr>
            <p:ph idx="1" type="body"/>
          </p:nvPr>
        </p:nvSpPr>
        <p:spPr>
          <a:xfrm>
            <a:off x="388943" y="1825625"/>
            <a:ext cx="1139274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3864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03864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87" name="Google Shape;87;p7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12084" y="224287"/>
            <a:ext cx="1572880" cy="4556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" name="Google Shape;88;p71"/>
          <p:cNvCxnSpPr/>
          <p:nvPr/>
        </p:nvCxnSpPr>
        <p:spPr>
          <a:xfrm>
            <a:off x="388943" y="6521865"/>
            <a:ext cx="145478" cy="0"/>
          </a:xfrm>
          <a:prstGeom prst="straightConnector1">
            <a:avLst/>
          </a:prstGeom>
          <a:noFill/>
          <a:ln cap="flat" cmpd="sng" w="9525">
            <a:solidFill>
              <a:srgbClr val="103864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89" name="Google Shape;89;p71"/>
          <p:cNvSpPr txBox="1"/>
          <p:nvPr/>
        </p:nvSpPr>
        <p:spPr>
          <a:xfrm>
            <a:off x="-1190479" y="63393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pacmann.io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1"/>
          <p:cNvSpPr txBox="1"/>
          <p:nvPr/>
        </p:nvSpPr>
        <p:spPr>
          <a:xfrm>
            <a:off x="3906714" y="63393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386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2022 – Pacmann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g3b4227d6282_0_0"/>
          <p:cNvGrpSpPr/>
          <p:nvPr/>
        </p:nvGrpSpPr>
        <p:grpSpPr>
          <a:xfrm>
            <a:off x="1352100" y="1211080"/>
            <a:ext cx="9487800" cy="4172698"/>
            <a:chOff x="1352101" y="1027850"/>
            <a:chExt cx="9487800" cy="4172698"/>
          </a:xfrm>
        </p:grpSpPr>
        <p:sp>
          <p:nvSpPr>
            <p:cNvPr id="187" name="Google Shape;187;g3b4227d6282_0_0"/>
            <p:cNvSpPr txBox="1"/>
            <p:nvPr/>
          </p:nvSpPr>
          <p:spPr>
            <a:xfrm>
              <a:off x="1352101" y="1027850"/>
              <a:ext cx="9487800" cy="16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400"/>
                <a:buFont typeface="Sora"/>
                <a:buNone/>
              </a:pPr>
              <a:r>
                <a:rPr lang="en-US" sz="4400">
                  <a:solidFill>
                    <a:srgbClr val="FFFFFF"/>
                  </a:solidFill>
                  <a:latin typeface="Sora"/>
                  <a:ea typeface="Sora"/>
                  <a:cs typeface="Sora"/>
                  <a:sym typeface="Sora"/>
                </a:rPr>
                <a:t>How Our Screens Steal Our Sleep</a:t>
              </a:r>
              <a:endParaRPr sz="44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400"/>
                <a:buFont typeface="Sora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g3b4227d6282_0_0"/>
            <p:cNvSpPr/>
            <p:nvPr/>
          </p:nvSpPr>
          <p:spPr>
            <a:xfrm>
              <a:off x="3306290" y="4797948"/>
              <a:ext cx="5579400" cy="402600"/>
            </a:xfrm>
            <a:prstGeom prst="roundRect">
              <a:avLst>
                <a:gd fmla="val 50000" name="adj"/>
              </a:avLst>
            </a:prstGeom>
            <a:solidFill>
              <a:srgbClr val="F3C14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03864"/>
                </a:buClr>
                <a:buSzPts val="1800"/>
                <a:buFont typeface="Sora"/>
                <a:buNone/>
              </a:pPr>
              <a:r>
                <a:rPr b="0" i="0" lang="en-US" sz="1800" u="none" cap="none" strike="noStrike">
                  <a:solidFill>
                    <a:srgbClr val="103864"/>
                  </a:solidFill>
                  <a:latin typeface="Sora"/>
                  <a:ea typeface="Sora"/>
                  <a:cs typeface="Sora"/>
                  <a:sym typeface="Sora"/>
                </a:rPr>
                <a:t>Statistics for Business</a:t>
              </a:r>
              <a:endParaRPr b="0" i="0" sz="1800" u="none" cap="none" strike="noStrike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pic>
        <p:nvPicPr>
          <p:cNvPr id="189" name="Google Shape;189;g3b4227d6282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12083" y="224287"/>
            <a:ext cx="1572881" cy="45563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3b4227d6282_0_0"/>
          <p:cNvSpPr txBox="1"/>
          <p:nvPr/>
        </p:nvSpPr>
        <p:spPr>
          <a:xfrm>
            <a:off x="10662473" y="6414143"/>
            <a:ext cx="1285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 Light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</a:t>
            </a:r>
            <a:r>
              <a:rPr lang="en-US" sz="8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5</a:t>
            </a:r>
            <a:r>
              <a:rPr b="0" i="0" lang="en-US" sz="8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– Pacmann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b4227d6282_0_0"/>
          <p:cNvSpPr txBox="1"/>
          <p:nvPr/>
        </p:nvSpPr>
        <p:spPr>
          <a:xfrm>
            <a:off x="496312" y="6414143"/>
            <a:ext cx="78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 Light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pacmann.io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g3b4227d6282_0_0"/>
          <p:cNvCxnSpPr/>
          <p:nvPr/>
        </p:nvCxnSpPr>
        <p:spPr>
          <a:xfrm>
            <a:off x="388943" y="6521865"/>
            <a:ext cx="145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93" name="Google Shape;193;g3b4227d6282_0_0"/>
          <p:cNvSpPr txBox="1"/>
          <p:nvPr/>
        </p:nvSpPr>
        <p:spPr>
          <a:xfrm>
            <a:off x="1339644" y="3341750"/>
            <a:ext cx="9487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a"/>
              <a:buNone/>
            </a:pPr>
            <a:r>
              <a:rPr lang="en-US" sz="30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A data story about social media, screen time, and sleep duration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"/>
          <p:cNvSpPr txBox="1"/>
          <p:nvPr>
            <p:ph type="title"/>
          </p:nvPr>
        </p:nvSpPr>
        <p:spPr>
          <a:xfrm>
            <a:off x="388943" y="365125"/>
            <a:ext cx="1140154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3200"/>
              <a:buFont typeface="Sora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99" name="Google Shape;199;p3"/>
          <p:cNvSpPr txBox="1"/>
          <p:nvPr/>
        </p:nvSpPr>
        <p:spPr>
          <a:xfrm>
            <a:off x="401515" y="1584375"/>
            <a:ext cx="11388900" cy="3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3500"/>
              <a:buFont typeface="Sora"/>
              <a:buChar char="❏"/>
            </a:pPr>
            <a:r>
              <a:rPr lang="en-US" sz="3500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rPr>
              <a:t>Late at night, many of us reach for our phones.</a:t>
            </a:r>
            <a:endParaRPr sz="3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3500"/>
              <a:buFont typeface="Sora"/>
              <a:buChar char="❏"/>
            </a:pPr>
            <a:r>
              <a:rPr lang="en-US" sz="3500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rPr>
              <a:t>Scrolling feels harmless—but does it quietly cost us sleep?</a:t>
            </a:r>
            <a:endParaRPr sz="3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3500"/>
              <a:buFont typeface="Sora"/>
              <a:buChar char="❏"/>
            </a:pPr>
            <a:r>
              <a:rPr lang="en-US" sz="3500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rPr>
              <a:t>This project explores how digital behavior relates to sleep duration.</a:t>
            </a:r>
            <a:endParaRPr sz="3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f168eedcc6_0_15"/>
          <p:cNvSpPr txBox="1"/>
          <p:nvPr>
            <p:ph type="title"/>
          </p:nvPr>
        </p:nvSpPr>
        <p:spPr>
          <a:xfrm>
            <a:off x="388943" y="365125"/>
            <a:ext cx="11401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3200"/>
              <a:buFont typeface="Sora"/>
              <a:buNone/>
            </a:pPr>
            <a:r>
              <a:rPr lang="en-US"/>
              <a:t>Dataset</a:t>
            </a:r>
            <a:endParaRPr/>
          </a:p>
        </p:txBody>
      </p:sp>
      <p:sp>
        <p:nvSpPr>
          <p:cNvPr id="205" name="Google Shape;205;g1f168eedcc6_0_15"/>
          <p:cNvSpPr txBox="1"/>
          <p:nvPr/>
        </p:nvSpPr>
        <p:spPr>
          <a:xfrm>
            <a:off x="401515" y="1584375"/>
            <a:ext cx="113889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2500"/>
              <a:buFont typeface="Sora"/>
              <a:buChar char="•"/>
            </a:pPr>
            <a:r>
              <a:rPr lang="en-US" sz="2500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rPr>
              <a:t>Source: Kaggle – Social Media &amp; Mental Health Indicators Dataset</a:t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2500"/>
              <a:buFont typeface="Sora"/>
              <a:buChar char="•"/>
            </a:pPr>
            <a:r>
              <a:rPr lang="en-US" sz="2500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rPr>
              <a:t>5,000 users</a:t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2500"/>
              <a:buFont typeface="Sora"/>
              <a:buChar char="•"/>
            </a:pPr>
            <a:r>
              <a:rPr lang="en-US" sz="2500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rPr>
              <a:t>Variables include screen time, social media usage, interactions, age, and sleep hours.</a:t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41a23605f_0_10"/>
          <p:cNvSpPr txBox="1"/>
          <p:nvPr>
            <p:ph type="title"/>
          </p:nvPr>
        </p:nvSpPr>
        <p:spPr>
          <a:xfrm>
            <a:off x="388943" y="365125"/>
            <a:ext cx="11401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3200"/>
              <a:buFont typeface="Sora"/>
              <a:buNone/>
            </a:pPr>
            <a:r>
              <a:rPr lang="en-US"/>
              <a:t>Statistical Test</a:t>
            </a:r>
            <a:endParaRPr/>
          </a:p>
        </p:txBody>
      </p:sp>
      <p:sp>
        <p:nvSpPr>
          <p:cNvPr id="211" name="Google Shape;211;g3b41a23605f_0_10"/>
          <p:cNvSpPr txBox="1"/>
          <p:nvPr/>
        </p:nvSpPr>
        <p:spPr>
          <a:xfrm>
            <a:off x="401515" y="1584375"/>
            <a:ext cx="113889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2500"/>
              <a:buFont typeface="Sora"/>
              <a:buChar char="•"/>
            </a:pPr>
            <a:r>
              <a:rPr lang="en-US" sz="2500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rPr>
              <a:t>Question: Do high social media users sleep less?</a:t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2500"/>
              <a:buFont typeface="Sora"/>
              <a:buChar char="•"/>
            </a:pPr>
            <a:r>
              <a:rPr lang="en-US" sz="2500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rPr>
              <a:t>Method: t-test</a:t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2500"/>
              <a:buFont typeface="Sora"/>
              <a:buChar char="•"/>
            </a:pPr>
            <a:r>
              <a:rPr lang="en-US" sz="2500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rPr>
              <a:t>Group: Low vs High social media usage</a:t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41a23605f_0_60"/>
          <p:cNvSpPr txBox="1"/>
          <p:nvPr>
            <p:ph type="title"/>
          </p:nvPr>
        </p:nvSpPr>
        <p:spPr>
          <a:xfrm>
            <a:off x="388943" y="365125"/>
            <a:ext cx="11401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3200"/>
              <a:buFont typeface="Sora"/>
              <a:buNone/>
            </a:pPr>
            <a:r>
              <a:rPr lang="en-US"/>
              <a:t>Statistical Result</a:t>
            </a:r>
            <a:endParaRPr/>
          </a:p>
        </p:txBody>
      </p:sp>
      <p:sp>
        <p:nvSpPr>
          <p:cNvPr id="217" name="Google Shape;217;g3b41a23605f_0_60"/>
          <p:cNvSpPr txBox="1"/>
          <p:nvPr/>
        </p:nvSpPr>
        <p:spPr>
          <a:xfrm>
            <a:off x="401515" y="1584375"/>
            <a:ext cx="113889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2500"/>
              <a:buFont typeface="Sora"/>
              <a:buChar char="•"/>
            </a:pPr>
            <a:r>
              <a:rPr lang="en-US" sz="2500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rPr>
              <a:t>High social media users sleep about 0.6 hours less on average.</a:t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2500"/>
              <a:buFont typeface="Sora"/>
              <a:buChar char="•"/>
            </a:pPr>
            <a:r>
              <a:rPr lang="en-US" sz="2500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rPr>
              <a:t>Result is statistically significant (p &lt; 0.001).</a:t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g3b41a23605f_0_68" title="Sleep Duration by Social Media Usage Grou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6105" y="76200"/>
            <a:ext cx="8488848" cy="67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41a23605f_0_74"/>
          <p:cNvSpPr txBox="1"/>
          <p:nvPr>
            <p:ph type="title"/>
          </p:nvPr>
        </p:nvSpPr>
        <p:spPr>
          <a:xfrm>
            <a:off x="388943" y="365125"/>
            <a:ext cx="11401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3200"/>
              <a:buFont typeface="Sora"/>
              <a:buNone/>
            </a:pPr>
            <a:r>
              <a:rPr lang="en-US"/>
              <a:t>Regression: </a:t>
            </a:r>
            <a:r>
              <a:rPr lang="en-US"/>
              <a:t>Social Media Only</a:t>
            </a:r>
            <a:endParaRPr/>
          </a:p>
        </p:txBody>
      </p:sp>
      <p:sp>
        <p:nvSpPr>
          <p:cNvPr id="228" name="Google Shape;228;g3b41a23605f_0_74"/>
          <p:cNvSpPr txBox="1"/>
          <p:nvPr/>
        </p:nvSpPr>
        <p:spPr>
          <a:xfrm>
            <a:off x="401515" y="1584375"/>
            <a:ext cx="113889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2500"/>
              <a:buFont typeface="Sora"/>
              <a:buChar char="•"/>
            </a:pPr>
            <a:r>
              <a:rPr lang="en-US" sz="2500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rPr>
              <a:t>As social media time increases, sleep duration decreases.</a:t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2500"/>
              <a:buFont typeface="Sora"/>
              <a:buChar char="•"/>
            </a:pPr>
            <a:r>
              <a:rPr lang="en-US" sz="2500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rPr>
              <a:t>This confirms the pattern seen in the group comparison.</a:t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g3b41a23605f_0_87" title="Social Media Time vs Sleep Dur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7189" y="152400"/>
            <a:ext cx="8606748" cy="67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b41a23605f_0_93"/>
          <p:cNvSpPr txBox="1"/>
          <p:nvPr>
            <p:ph type="title"/>
          </p:nvPr>
        </p:nvSpPr>
        <p:spPr>
          <a:xfrm>
            <a:off x="388943" y="365125"/>
            <a:ext cx="11401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3200"/>
              <a:buFont typeface="Sora"/>
              <a:buNone/>
            </a:pPr>
            <a:r>
              <a:rPr lang="en-US"/>
              <a:t>Regression: Full Model</a:t>
            </a:r>
            <a:endParaRPr/>
          </a:p>
        </p:txBody>
      </p:sp>
      <p:sp>
        <p:nvSpPr>
          <p:cNvPr id="239" name="Google Shape;239;g3b41a23605f_0_93"/>
          <p:cNvSpPr txBox="1"/>
          <p:nvPr/>
        </p:nvSpPr>
        <p:spPr>
          <a:xfrm>
            <a:off x="401515" y="1584375"/>
            <a:ext cx="113889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rPr>
              <a:t>When controlling for screen time, age, and interactions:</a:t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2500"/>
              <a:buFont typeface="Sora"/>
              <a:buChar char="●"/>
            </a:pPr>
            <a:r>
              <a:rPr lang="en-US" sz="2500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rPr>
              <a:t>Total screen time is the strongest predictor</a:t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2500"/>
              <a:buFont typeface="Sora"/>
              <a:buChar char="●"/>
            </a:pPr>
            <a:r>
              <a:rPr lang="en-US" sz="2500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rPr>
              <a:t>Social media alone becomes less dominant</a:t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g3b41a23605f_0_20" title="Daily Screen Time vs Sleep Dur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9073" y="152400"/>
            <a:ext cx="8488848" cy="67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42ad2f6649_0_139"/>
          <p:cNvSpPr txBox="1"/>
          <p:nvPr>
            <p:ph type="title"/>
          </p:nvPr>
        </p:nvSpPr>
        <p:spPr>
          <a:xfrm>
            <a:off x="388943" y="365125"/>
            <a:ext cx="11401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3200"/>
              <a:buFont typeface="Sora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50" name="Google Shape;250;g142ad2f6649_0_139"/>
          <p:cNvSpPr txBox="1"/>
          <p:nvPr/>
        </p:nvSpPr>
        <p:spPr>
          <a:xfrm>
            <a:off x="401515" y="1584375"/>
            <a:ext cx="113889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2500"/>
              <a:buFont typeface="Sora"/>
              <a:buChar char="•"/>
            </a:pPr>
            <a:r>
              <a:rPr lang="en-US" sz="2500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rPr>
              <a:t>Digital habits are strongly linked to sleep duration.</a:t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2500"/>
              <a:buFont typeface="Sora"/>
              <a:buChar char="•"/>
            </a:pPr>
            <a:r>
              <a:rPr lang="en-US" sz="2500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rPr>
              <a:t>Not just social media—but overall screen exposure matters.</a:t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451da43991_0_41"/>
          <p:cNvSpPr txBox="1"/>
          <p:nvPr>
            <p:ph type="title"/>
          </p:nvPr>
        </p:nvSpPr>
        <p:spPr>
          <a:xfrm>
            <a:off x="388943" y="365125"/>
            <a:ext cx="11401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3200"/>
              <a:buFont typeface="Sora"/>
              <a:buNone/>
            </a:pPr>
            <a:r>
              <a:rPr lang="en-US"/>
              <a:t>Recommendation</a:t>
            </a:r>
            <a:endParaRPr/>
          </a:p>
        </p:txBody>
      </p:sp>
      <p:sp>
        <p:nvSpPr>
          <p:cNvPr id="256" name="Google Shape;256;g1451da43991_0_41"/>
          <p:cNvSpPr txBox="1"/>
          <p:nvPr/>
        </p:nvSpPr>
        <p:spPr>
          <a:xfrm>
            <a:off x="401515" y="1584375"/>
            <a:ext cx="113889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2500"/>
              <a:buFont typeface="Sora"/>
              <a:buChar char="•"/>
            </a:pPr>
            <a:r>
              <a:rPr lang="en-US" sz="2500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rPr>
              <a:t>Reduce screen exposure before bedtime.</a:t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2500"/>
              <a:buFont typeface="Sora"/>
              <a:buChar char="•"/>
            </a:pPr>
            <a:r>
              <a:rPr lang="en-US" sz="2500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rPr>
              <a:t>Encourage digital well-being habits.</a:t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2500"/>
              <a:buFont typeface="Sora"/>
              <a:buChar char="•"/>
            </a:pPr>
            <a:r>
              <a:rPr lang="en-US" sz="2500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rPr>
              <a:t>Future studies could examine sleep quality and long-term effects.</a:t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"/>
          <p:cNvSpPr txBox="1"/>
          <p:nvPr>
            <p:ph type="title"/>
          </p:nvPr>
        </p:nvSpPr>
        <p:spPr>
          <a:xfrm>
            <a:off x="388943" y="365125"/>
            <a:ext cx="1150998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3200"/>
              <a:buFont typeface="Sora"/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262" name="Google Shape;262;p2"/>
          <p:cNvSpPr txBox="1"/>
          <p:nvPr/>
        </p:nvSpPr>
        <p:spPr>
          <a:xfrm>
            <a:off x="401515" y="1584375"/>
            <a:ext cx="113889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2500"/>
              <a:buChar char="•"/>
            </a:pPr>
            <a:r>
              <a:rPr lang="en-US" sz="2500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rPr>
              <a:t>Stine, R., &amp; Foster, D. (2013). Statistics for Business: Decision Making and Analysis, Addison-Wesley.</a:t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2500"/>
              <a:buFont typeface="Sora"/>
              <a:buChar char="•"/>
            </a:pPr>
            <a:r>
              <a:rPr lang="en-US" sz="2500">
                <a:solidFill>
                  <a:srgbClr val="103864"/>
                </a:solidFill>
                <a:latin typeface="Sora"/>
                <a:ea typeface="Sora"/>
                <a:cs typeface="Sora"/>
                <a:sym typeface="Sora"/>
              </a:rPr>
              <a:t>Gelman, A., Hill, J., &amp; Vehtari, A. (2020). Regression and Other Stories.</a:t>
            </a:r>
            <a:endParaRPr sz="2500">
              <a:solidFill>
                <a:srgbClr val="103864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c19338028d_0_10"/>
          <p:cNvSpPr txBox="1"/>
          <p:nvPr>
            <p:ph type="title"/>
          </p:nvPr>
        </p:nvSpPr>
        <p:spPr>
          <a:xfrm>
            <a:off x="316523" y="2691441"/>
            <a:ext cx="11582400" cy="89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3864"/>
              </a:buClr>
              <a:buSzPts val="4000"/>
              <a:buFont typeface="Sora"/>
              <a:buNone/>
            </a:pPr>
            <a:r>
              <a:rPr lang="en-US" sz="4000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2022-06-30T03:08:43Z</dcterms:created>
  <dc:creator>RIDO TRI PUTRA</dc:creator>
</cp:coreProperties>
</file>